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personal story: pollen + Lahore smog turn an ordinary school run into a guessing game. Then: existing apps give you a number; SaafHawa gives you the decision. Say the one-line tagline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 the 'blind decisions' point hardest — it's the emotional core. Tie back to your own allergy/pollen experience: you've made these calls without good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differentiator in one breath: existing apps show data; SaafHawa interprets it per person, in local language, instantly. The bilingual + per-household combo is what no one else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diagram. Say: live air in, AI interpretation out, cached, with a fallback at every hop so the demo never shows a blank screen. Point at the green 'offline-safe' box — that's your reliability story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real app here, not the slide. If Wi-Fi fails, switch to the recorded backup video immediately — don't troubleshoot live. Change the household toggle on stage so judges SEE the advice change. End on 'built, not planned'.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feasibility/scalability answer for the judges. Lead with who benefits (the most vulnerable), then the two civic themes, then the four scale axes — emphasize WhatsApp/SMS reaching phones without an app, and the zero-cost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mission line, then the stats, then invite questions. Have the repo link and the architecture slide ready for the technical Q&amp;A on data accuracy and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969264" y="841248"/>
            <a:ext cx="365760" cy="64008"/>
          </a:xfrm>
          <a:prstGeom prst="roundRect">
            <a:avLst>
              <a:gd name="adj" fmla="val 50000"/>
            </a:avLst>
          </a:prstGeom>
          <a:solidFill>
            <a:srgbClr val="1668C7"/>
          </a:solidFill>
        </p:spPr>
      </p:sp>
      <p:sp>
        <p:nvSpPr>
          <p:cNvPr id="4" name="Shape 2"/>
          <p:cNvSpPr/>
          <p:nvPr/>
        </p:nvSpPr>
        <p:spPr>
          <a:xfrm>
            <a:off x="969264" y="987552"/>
            <a:ext cx="365760" cy="64008"/>
          </a:xfrm>
          <a:prstGeom prst="roundRect">
            <a:avLst>
              <a:gd name="adj" fmla="val 50000"/>
            </a:avLst>
          </a:prstGeom>
          <a:solidFill>
            <a:srgbClr val="12A594"/>
          </a:solidFill>
        </p:spPr>
      </p:sp>
      <p:sp>
        <p:nvSpPr>
          <p:cNvPr id="5" name="Shape 3"/>
          <p:cNvSpPr/>
          <p:nvPr/>
        </p:nvSpPr>
        <p:spPr>
          <a:xfrm>
            <a:off x="969264" y="1133856"/>
            <a:ext cx="365760" cy="64008"/>
          </a:xfrm>
          <a:prstGeom prst="roundRect">
            <a:avLst>
              <a:gd name="adj" fmla="val 50000"/>
            </a:avLst>
          </a:prstGeom>
          <a:solidFill>
            <a:srgbClr val="16B6D4"/>
          </a:solidFill>
        </p:spPr>
      </p:sp>
      <p:sp>
        <p:nvSpPr>
          <p:cNvPr id="6" name="Text 4"/>
          <p:cNvSpPr/>
          <p:nvPr/>
        </p:nvSpPr>
        <p:spPr>
          <a:xfrm>
            <a:off x="1600200" y="65836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SaafHawa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206240" y="65836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صاف ہوا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Air-quality data, turned into a decision you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act on — </a:t>
            </a:r>
            <a:r>
              <a:rPr lang="en-US" sz="40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your language.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 layer over public air data for air-sensitive households in Lahore, Karachi &amp; Islamabad.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Bilingual (EN + اردو)   ·   Per-household advice   ·   Ask-anything   ·   Offline-safe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Theme: Technology for Civic Good  ·  Open Data &amp; Access to Information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SaafHawa  ·  AI for Civic Innovation Hackathon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number is not an answer.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Caregivers can see today's AQI. What they can't see is what to do about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E04C4C"/>
          </a:solidFill>
        </p:spPr>
      </p:sp>
      <p:sp>
        <p:nvSpPr>
          <p:cNvPr id="6" name="Text 4"/>
          <p:cNvSpPr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304288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number is jargon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724912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“AQI 168” means nothing to a parent deciding on the morning school run.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331720"/>
            <a:ext cx="457200" cy="457200"/>
          </a:xfrm>
          <a:prstGeom prst="ellipse">
            <a:avLst/>
          </a:prstGeom>
          <a:solidFill>
            <a:srgbClr val="E04C4C"/>
          </a:solidFill>
        </p:spPr>
      </p:sp>
      <p:sp>
        <p:nvSpPr>
          <p:cNvPr id="11" name="Text 9"/>
          <p:cNvSpPr/>
          <p:nvPr/>
        </p:nvSpPr>
        <p:spPr>
          <a:xfrm>
            <a:off x="6492240" y="2331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304288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size fits nobody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724912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toddler, an asthmatic grandparent, and a healthy adult need different advice — apps give one.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43400"/>
            <a:ext cx="457200" cy="457200"/>
          </a:xfrm>
          <a:prstGeom prst="ellipse">
            <a:avLst/>
          </a:prstGeom>
          <a:solidFill>
            <a:srgbClr val="E04C4C"/>
          </a:solidFill>
        </p:spPr>
      </p:sp>
      <p:sp>
        <p:nvSpPr>
          <p:cNvPr id="16" name="Text 14"/>
          <p:cNvSpPr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315968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barrier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736592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Guidance, when it exists, is English-only. Most caregivers think in Urdu.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343400"/>
            <a:ext cx="457200" cy="457200"/>
          </a:xfrm>
          <a:prstGeom prst="ellipse">
            <a:avLst/>
          </a:prstGeom>
          <a:solidFill>
            <a:srgbClr val="E04C4C"/>
          </a:solidFill>
        </p:spPr>
      </p:sp>
      <p:sp>
        <p:nvSpPr>
          <p:cNvPr id="21" name="Text 19"/>
          <p:cNvSpPr/>
          <p:nvPr/>
        </p:nvSpPr>
        <p:spPr>
          <a:xfrm>
            <a:off x="6492240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315968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Decisions made blind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4736592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Walks, open windows, school runs — taken daily without knowing the real risk.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SaafHawa turns the number into a plan.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Tell it who's home. It reads today's local air and answers in plain English and Urdu.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04288"/>
            <a:ext cx="457200" cy="457200"/>
          </a:xfrm>
          <a:prstGeom prst="ellipse">
            <a:avLst/>
          </a:prstGeom>
          <a:solidFill>
            <a:srgbClr val="12A594"/>
          </a:solidFill>
        </p:spPr>
      </p:sp>
      <p:sp>
        <p:nvSpPr>
          <p:cNvPr id="6" name="Text 4"/>
          <p:cNvSpPr/>
          <p:nvPr/>
        </p:nvSpPr>
        <p:spPr>
          <a:xfrm>
            <a:off x="1554480" y="2304288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Per-household advice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78892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Profiles for child, elderly, pregnant, allergy, heart/lung, outdoor worker — each changes the plan.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304288"/>
            <a:ext cx="457200" cy="457200"/>
          </a:xfrm>
          <a:prstGeom prst="ellipse">
            <a:avLst/>
          </a:prstGeom>
          <a:solidFill>
            <a:srgbClr val="1668C7"/>
          </a:solidFill>
        </p:spPr>
      </p:sp>
      <p:sp>
        <p:nvSpPr>
          <p:cNvPr id="10" name="Text 8"/>
          <p:cNvSpPr/>
          <p:nvPr/>
        </p:nvSpPr>
        <p:spPr>
          <a:xfrm>
            <a:off x="7132320" y="2304288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One-line verdict + steps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278892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clear verdict, 3–4 concrete actions, and the why — generated live for today's air.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315968"/>
            <a:ext cx="457200" cy="457200"/>
          </a:xfrm>
          <a:prstGeom prst="ellipse">
            <a:avLst/>
          </a:prstGeom>
          <a:solidFill>
            <a:srgbClr val="16B6D4"/>
          </a:solidFill>
        </p:spPr>
      </p:sp>
      <p:sp>
        <p:nvSpPr>
          <p:cNvPr id="14" name="Text 12"/>
          <p:cNvSpPr/>
          <p:nvPr/>
        </p:nvSpPr>
        <p:spPr>
          <a:xfrm>
            <a:off x="1554480" y="4315968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Bilingual by default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80060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verdict in English and Urdu (Nastaliq) — not a translation toggle, a first-class output.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4315968"/>
            <a:ext cx="457200" cy="457200"/>
          </a:xfrm>
          <a:prstGeom prst="ellipse">
            <a:avLst/>
          </a:prstGeom>
          <a:solidFill>
            <a:srgbClr val="E08A2B"/>
          </a:solidFill>
        </p:spPr>
      </p:sp>
      <p:sp>
        <p:nvSpPr>
          <p:cNvPr id="18" name="Text 16"/>
          <p:cNvSpPr/>
          <p:nvPr/>
        </p:nvSpPr>
        <p:spPr>
          <a:xfrm>
            <a:off x="7132320" y="4315968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Ask-anything chat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480060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“Safe to walk to school now?” — answered, grounded in your air level and household.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· WAQI air data · Groq Llama 3.3 70B · SQLite — three endpoints, one frozen JSON contract.</a:t>
            </a:r>
            <a:endParaRPr lang="en-US" sz="1500" dirty="0"/>
          </a:p>
        </p:txBody>
      </p:sp>
      <p:pic>
        <p:nvPicPr>
          <p:cNvPr id="5" name="Picture 4" descr="archite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715" y="1517650"/>
            <a:ext cx="9044940" cy="50679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Live: one number → one decision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E04C4C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7830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AQI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168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Unhealthy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71800" y="2286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749040" y="1554480"/>
            <a:ext cx="7772400" cy="2194560"/>
          </a:xfrm>
          <a:prstGeom prst="roundRect">
            <a:avLst>
              <a:gd name="adj" fmla="val 5000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69080" y="17373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Household: young child + pollen allergy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69080" y="2121408"/>
            <a:ext cx="7223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your child indoors until noon — mask the school run.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069080" y="2697480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 windows in peak hours  ·  rinse off pollen after coming in.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69080" y="3154680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668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بچے کو دوپہر تک گھر کے اندر رکھیں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next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245516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668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4846320"/>
            <a:ext cx="109728" cy="109728"/>
          </a:xfrm>
          <a:prstGeom prst="ellipse">
            <a:avLst/>
          </a:prstGeom>
          <a:solidFill>
            <a:srgbClr val="1668C7"/>
          </a:solidFill>
        </p:spPr>
      </p:sp>
      <p:sp>
        <p:nvSpPr>
          <p:cNvPr id="16" name="Text 14"/>
          <p:cNvSpPr/>
          <p:nvPr/>
        </p:nvSpPr>
        <p:spPr>
          <a:xfrm>
            <a:off x="932688" y="4709160"/>
            <a:ext cx="21808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sensor integration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78124" y="4709160"/>
            <a:ext cx="16733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668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4428" y="4846320"/>
            <a:ext cx="109728" cy="109728"/>
          </a:xfrm>
          <a:prstGeom prst="ellipse">
            <a:avLst/>
          </a:prstGeom>
          <a:solidFill>
            <a:srgbClr val="1668C7"/>
          </a:solidFill>
        </p:spPr>
      </p:sp>
      <p:sp>
        <p:nvSpPr>
          <p:cNvPr id="19" name="Text 17"/>
          <p:cNvSpPr/>
          <p:nvPr/>
        </p:nvSpPr>
        <p:spPr>
          <a:xfrm>
            <a:off x="3570732" y="4709160"/>
            <a:ext cx="13990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WhatsApp / SMS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134356" y="4709160"/>
            <a:ext cx="193395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668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80660" y="4846320"/>
            <a:ext cx="109728" cy="109728"/>
          </a:xfrm>
          <a:prstGeom prst="ellipse">
            <a:avLst/>
          </a:prstGeom>
          <a:solidFill>
            <a:srgbClr val="1668C7"/>
          </a:solidFill>
        </p:spPr>
      </p:sp>
      <p:sp>
        <p:nvSpPr>
          <p:cNvPr id="22" name="Text 20"/>
          <p:cNvSpPr/>
          <p:nvPr/>
        </p:nvSpPr>
        <p:spPr>
          <a:xfrm>
            <a:off x="5426964" y="4709160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Next-day forecast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51192" y="4709160"/>
            <a:ext cx="14127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668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97496" y="4846320"/>
            <a:ext cx="109728" cy="109728"/>
          </a:xfrm>
          <a:prstGeom prst="ellipse">
            <a:avLst/>
          </a:prstGeom>
          <a:solidFill>
            <a:srgbClr val="1668C7"/>
          </a:solidFill>
        </p:spPr>
      </p:sp>
      <p:sp>
        <p:nvSpPr>
          <p:cNvPr id="25" name="Text 23"/>
          <p:cNvSpPr/>
          <p:nvPr/>
        </p:nvSpPr>
        <p:spPr>
          <a:xfrm>
            <a:off x="7543800" y="4709160"/>
            <a:ext cx="11384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cities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Already built: live data, bilingual AI verdicts, household profiles, ask-anything, Telegram bot, offline fallback.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&amp; scalability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public data, turned into protection for the citizens most exposed to polluted air.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12A594"/>
          </a:solidFill>
        </p:spPr>
      </p:sp>
      <p:sp>
        <p:nvSpPr>
          <p:cNvPr id="6" name="Text 4"/>
          <p:cNvSpPr/>
          <p:nvPr/>
        </p:nvSpPr>
        <p:spPr>
          <a:xfrm>
            <a:off x="1508760" y="214884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benefits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Air-sensitive households in Lahore, Karachi &amp; Islamabad — young children, elderly, pregnant members, pollen/asthma, heart &amp; lung conditions, outdoor workers.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148840"/>
            <a:ext cx="457200" cy="457200"/>
          </a:xfrm>
          <a:prstGeom prst="ellipse">
            <a:avLst/>
          </a:prstGeom>
          <a:solidFill>
            <a:srgbClr val="1668C7"/>
          </a:solidFill>
        </p:spPr>
      </p:sp>
      <p:sp>
        <p:nvSpPr>
          <p:cNvPr id="10" name="Text 8"/>
          <p:cNvSpPr/>
          <p:nvPr/>
        </p:nvSpPr>
        <p:spPr>
          <a:xfrm>
            <a:off x="7086600" y="214884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Civic impact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for Civic Good + Open Data &amp; Access to Information — making data citizens already pay for transparent and actionable, in their own language.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scales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0F6FC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8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city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5102352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location with a public AQI station — config, not code.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02152" y="461772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0F6FC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03320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8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reach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5102352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Telegram + planned WhatsApp/SMS — any phone, no app needed.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64224" y="461772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0F6FC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5392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8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language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65392" y="5102352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Bilingual layer generalizes to more local languages.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26296" y="461772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0F6FC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27464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8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cost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27464" y="5102352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stack (open API, free-tier LLM, SQLite) — near-zero to run.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for the people who feel the air first.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number most people can't act on, turned into a clear decision — </a:t>
            </a:r>
            <a:r>
              <a:rPr lang="en-US" sz="18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their language.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12264A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2976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cities live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416052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12264A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42976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4937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household profiles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416052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12264A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42976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+ اردو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4937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verdict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416052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12264A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42976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4937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offline-safe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SaafHawa  ·  صاف ہوا  ·  github.com/mmoneka11/SaafHawa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2965</Words>
  <Application>WPS Presentation</Application>
  <PresentationFormat>On-screen Show (16:9)</PresentationFormat>
  <Paragraphs>149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SaafHawa — Pitch</dc:title>
  <dc:creator>Team SaafHawa</dc:creator>
  <dc:subject>PptxGenJS Presentation</dc:subject>
  <cp:lastModifiedBy>Savera Bai</cp:lastModifiedBy>
  <cp:revision>4</cp:revision>
  <dcterms:created xsi:type="dcterms:W3CDTF">2026-06-13T16:35:00Z</dcterms:created>
  <dcterms:modified xsi:type="dcterms:W3CDTF">2026-06-14T11:51:07Z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4C55B7C4FFF64C2281364427024CEEEB_12</vt:lpwstr>
  </property>
  <property fmtid="{D5CDD505-2E9C-101B-9397-08002B2CF9AE}" pid="3" name="KSOProductBuildVer">
    <vt:lpwstr>1033-12.1.0.26880</vt:lpwstr>
  </property>
</Properties>
</file>